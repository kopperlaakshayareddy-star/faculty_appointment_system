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17270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200" dirty="0">
                <a:solidFill>
                  <a:srgbClr val="0B2A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564640"/>
            <a:ext cx="105664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0B2A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200" dirty="0">
                <a:solidFill>
                  <a:srgbClr val="0B2A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564640"/>
            <a:ext cx="105664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0B2A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A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89992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7CC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MERN STACK PROJECT</a:t>
            </a:r>
            <a:endParaRPr lang="en-US" sz="14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2326640"/>
            <a:ext cx="6409690" cy="1305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4800" b="1" i="0" dirty="0">
                <a:solidFill>
                  <a:srgbClr val="F8FB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Faculty Appointment Booking System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12800" y="3784600"/>
            <a:ext cx="588645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CFE0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Book, approve and track faculty meetings online.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800" y="424688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400" b="1" dirty="0">
                <a:solidFill>
                  <a:srgbClr val="F8FB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Team:</a:t>
            </a:r>
            <a:r>
              <a:rPr lang="en-US" sz="2400" dirty="0">
                <a:solidFill>
                  <a:srgbClr val="F8FB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</a:p>
          <a:p>
            <a:pPr>
              <a:lnSpc>
                <a:spcPts val="2100"/>
              </a:lnSpc>
            </a:pPr>
            <a:r>
              <a:rPr lang="en-US" sz="2400" dirty="0">
                <a:solidFill>
                  <a:srgbClr val="F8FB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600" dirty="0">
                <a:solidFill>
                  <a:srgbClr val="F8FB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</a:t>
            </a:r>
            <a:r>
              <a:rPr lang="en-US" sz="1600" dirty="0">
                <a:solidFill>
                  <a:srgbClr val="F8FBFF"/>
                </a:solidFill>
                <a:latin typeface="PMingLiU-ExtB" panose="02020500000000000000" pitchFamily="18" charset="-120"/>
                <a:ea typeface="PMingLiU-ExtB" panose="02020500000000000000" pitchFamily="18" charset="-120"/>
                <a:cs typeface="Segoe UI" pitchFamily="34" charset="-120"/>
              </a:rPr>
              <a:t>K.Akshaya-25MVCSMR0048</a:t>
            </a:r>
          </a:p>
          <a:p>
            <a:pPr marL="0" indent="0" algn="l">
              <a:lnSpc>
                <a:spcPts val="2100"/>
              </a:lnSpc>
              <a:buNone/>
            </a:pPr>
            <a:r>
              <a:rPr lang="en-US" sz="1600" dirty="0">
                <a:solidFill>
                  <a:srgbClr val="F8FBFF"/>
                </a:solidFill>
                <a:latin typeface="PMingLiU-ExtB" panose="02020500000000000000" pitchFamily="18" charset="-120"/>
                <a:ea typeface="PMingLiU-ExtB" panose="02020500000000000000" pitchFamily="18" charset="-120"/>
                <a:cs typeface="Segoe UI" pitchFamily="34" charset="-120"/>
              </a:rPr>
              <a:t> · L.Akshaya-25MVCSMR0051</a:t>
            </a:r>
          </a:p>
          <a:p>
            <a:pPr marL="0" indent="0" algn="l">
              <a:lnSpc>
                <a:spcPts val="2100"/>
              </a:lnSpc>
              <a:buNone/>
            </a:pPr>
            <a:r>
              <a:rPr lang="en-US" sz="1600" dirty="0">
                <a:solidFill>
                  <a:srgbClr val="F8FBFF"/>
                </a:solidFill>
                <a:latin typeface="PMingLiU-ExtB" panose="02020500000000000000" pitchFamily="18" charset="-120"/>
                <a:ea typeface="PMingLiU-ExtB" panose="02020500000000000000" pitchFamily="18" charset="-120"/>
                <a:cs typeface="Segoe UI" pitchFamily="34" charset="-120"/>
              </a:rPr>
              <a:t> · M.Nandini-25MVCSMR0057</a:t>
            </a:r>
          </a:p>
          <a:p>
            <a:pPr marL="0" indent="0" algn="l">
              <a:lnSpc>
                <a:spcPts val="2100"/>
              </a:lnSpc>
              <a:buNone/>
            </a:pPr>
            <a:r>
              <a:rPr lang="en-US" sz="1600" dirty="0">
                <a:solidFill>
                  <a:srgbClr val="F8FBFF"/>
                </a:solidFill>
                <a:latin typeface="PMingLiU-ExtB" panose="02020500000000000000" pitchFamily="18" charset="-120"/>
                <a:ea typeface="PMingLiU-ExtB" panose="02020500000000000000" pitchFamily="18" charset="-120"/>
                <a:cs typeface="Segoe UI" pitchFamily="34" charset="-120"/>
              </a:rPr>
              <a:t> · P.Gangothri-25MVCSMR0069</a:t>
            </a:r>
            <a:endParaRPr lang="en-US" sz="1600" dirty="0">
              <a:latin typeface="PMingLiU-ExtB" panose="02020500000000000000" pitchFamily="18" charset="-120"/>
              <a:ea typeface="PMingLiU-ExtB" panose="02020500000000000000" pitchFamily="18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12800" y="469138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47000" y="1270000"/>
            <a:ext cx="3632200" cy="2766060"/>
          </a:xfrm>
          <a:prstGeom prst="roundRect">
            <a:avLst>
              <a:gd name="adj" fmla="val 5510"/>
            </a:avLst>
          </a:prstGeom>
          <a:solidFill>
            <a:srgbClr val="F8FBFF"/>
          </a:solidFill>
          <a:ln/>
        </p:spPr>
      </p:sp>
      <p:sp>
        <p:nvSpPr>
          <p:cNvPr id="8" name="Text 6"/>
          <p:cNvSpPr/>
          <p:nvPr/>
        </p:nvSpPr>
        <p:spPr>
          <a:xfrm>
            <a:off x="7950200" y="1473200"/>
            <a:ext cx="33225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B2A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📅 My Appointments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950200" y="1823720"/>
            <a:ext cx="3225800" cy="673100"/>
          </a:xfrm>
          <a:prstGeom prst="roundRect">
            <a:avLst>
              <a:gd name="adj" fmla="val 11321"/>
            </a:avLst>
          </a:prstGeom>
          <a:solidFill>
            <a:srgbClr val="EAF2FF"/>
          </a:solidFill>
          <a:ln/>
        </p:spPr>
      </p:sp>
      <p:sp>
        <p:nvSpPr>
          <p:cNvPr id="10" name="Text 8"/>
          <p:cNvSpPr/>
          <p:nvPr/>
        </p:nvSpPr>
        <p:spPr>
          <a:xfrm>
            <a:off x="8064500" y="1938020"/>
            <a:ext cx="3087116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B2A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Dr. Rao · Mon 10:30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064500" y="2169160"/>
            <a:ext cx="308711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950200" y="2598420"/>
            <a:ext cx="3225800" cy="673100"/>
          </a:xfrm>
          <a:prstGeom prst="roundRect">
            <a:avLst>
              <a:gd name="adj" fmla="val 11321"/>
            </a:avLst>
          </a:prstGeom>
          <a:solidFill>
            <a:srgbClr val="EAF2FF"/>
          </a:solidFill>
          <a:ln/>
        </p:spPr>
      </p:sp>
      <p:sp>
        <p:nvSpPr>
          <p:cNvPr id="13" name="Text 11"/>
          <p:cNvSpPr/>
          <p:nvPr/>
        </p:nvSpPr>
        <p:spPr>
          <a:xfrm>
            <a:off x="8064500" y="2712720"/>
            <a:ext cx="3087116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B2A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Prof. Devi · Tue 2:00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064500" y="2943860"/>
            <a:ext cx="308711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Pending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950200" y="3373120"/>
            <a:ext cx="3225800" cy="459740"/>
          </a:xfrm>
          <a:prstGeom prst="roundRect">
            <a:avLst>
              <a:gd name="adj" fmla="val 16575"/>
            </a:avLst>
          </a:prstGeom>
          <a:solidFill>
            <a:srgbClr val="1D4ED8"/>
          </a:solidFill>
          <a:ln/>
        </p:spPr>
        <p:txBody>
          <a:bodyPr wrap="square" lIns="47024" tIns="91982" rIns="47024" bIns="66582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8FB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Book Appointment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B2A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 Statement &amp; Objectives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542415"/>
            <a:ext cx="5154930" cy="1814830"/>
          </a:xfrm>
          <a:prstGeom prst="roundRect">
            <a:avLst>
              <a:gd name="adj" fmla="val 5423"/>
            </a:avLst>
          </a:prstGeom>
          <a:solidFill>
            <a:srgbClr val="FFFFFF"/>
          </a:solidFill>
          <a:ln w="6350">
            <a:solidFill>
              <a:srgbClr val="CFE0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95680" y="1722120"/>
            <a:ext cx="4939386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⚠️ The Problem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60450" y="2110740"/>
            <a:ext cx="4866996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9230" indent="-18923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0B2A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Students queue outside cabins and miss faculty</a:t>
            </a:r>
            <a:endParaRPr lang="en-US" sz="1500" dirty="0"/>
          </a:p>
          <a:p>
            <a:pPr marL="189230" indent="-18923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0B2A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Phone calls and messages cause clashes</a:t>
            </a:r>
            <a:endParaRPr lang="en-US" sz="1500" dirty="0"/>
          </a:p>
          <a:p>
            <a:pPr marL="189230" indent="-18923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0B2A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record of requests or their status</a:t>
            </a:r>
            <a:endParaRPr lang="en-US" sz="1500" dirty="0"/>
          </a:p>
          <a:p>
            <a:pPr marL="189230" indent="-18923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0B2A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Faculty time is hard to plan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28080" y="1539240"/>
            <a:ext cx="5151120" cy="1821180"/>
          </a:xfrm>
          <a:prstGeom prst="roundRect">
            <a:avLst>
              <a:gd name="adj" fmla="val 5579"/>
            </a:avLst>
          </a:prstGeom>
          <a:solidFill>
            <a:srgbClr val="1D4ED8"/>
          </a:solidFill>
          <a:ln/>
        </p:spPr>
      </p:sp>
      <p:sp>
        <p:nvSpPr>
          <p:cNvPr id="7" name="Text 5"/>
          <p:cNvSpPr/>
          <p:nvPr/>
        </p:nvSpPr>
        <p:spPr>
          <a:xfrm>
            <a:off x="6405880" y="1717040"/>
            <a:ext cx="4939386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8FB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🎯 Objectives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70650" y="2105660"/>
            <a:ext cx="4866996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9230" indent="-18923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F8FB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Online booking of faculty slots</a:t>
            </a:r>
            <a:endParaRPr lang="en-US" sz="1500" dirty="0"/>
          </a:p>
          <a:p>
            <a:pPr marL="189230" indent="-18923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F8FB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Approval workflow with live status</a:t>
            </a:r>
            <a:endParaRPr lang="en-US" sz="1500" dirty="0"/>
          </a:p>
          <a:p>
            <a:pPr marL="189230" indent="-18923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F8FB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Secure role-based access</a:t>
            </a:r>
            <a:endParaRPr lang="en-US" sz="1500" dirty="0"/>
          </a:p>
          <a:p>
            <a:pPr marL="189230" indent="-18923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F8FB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Central control for admins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12800" y="6238241"/>
            <a:ext cx="352472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F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Faculty Appointment Booking System · 2 / 7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B2A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542416"/>
            <a:ext cx="2501900" cy="1416050"/>
          </a:xfrm>
          <a:prstGeom prst="roundRect">
            <a:avLst>
              <a:gd name="adj" fmla="val 6951"/>
            </a:avLst>
          </a:prstGeom>
          <a:solidFill>
            <a:srgbClr val="FFFFFF"/>
          </a:solidFill>
          <a:ln w="6350">
            <a:solidFill>
              <a:srgbClr val="CFE0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773936" y="1722120"/>
            <a:ext cx="585978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920"/>
              </a:lnSpc>
              <a:buNone/>
            </a:pPr>
            <a:r>
              <a:rPr lang="en-US" sz="2800" dirty="0">
                <a:solidFill>
                  <a:srgbClr val="0B2A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⚛️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650587" y="2270761"/>
            <a:ext cx="832676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B2A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React.js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588492" y="2565400"/>
            <a:ext cx="95678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5B6F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 UI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502025" y="1542416"/>
            <a:ext cx="2501900" cy="1416050"/>
          </a:xfrm>
          <a:prstGeom prst="roundRect">
            <a:avLst>
              <a:gd name="adj" fmla="val 6951"/>
            </a:avLst>
          </a:prstGeom>
          <a:solidFill>
            <a:srgbClr val="FFFFFF"/>
          </a:solidFill>
          <a:ln w="6350">
            <a:solidFill>
              <a:srgbClr val="CFE0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59986" y="1722120"/>
            <a:ext cx="585978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920"/>
              </a:lnSpc>
              <a:buNone/>
            </a:pPr>
            <a:r>
              <a:rPr lang="en-US" sz="2800" dirty="0">
                <a:solidFill>
                  <a:srgbClr val="0B2A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🟢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334550" y="2270761"/>
            <a:ext cx="836771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B2A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Node.js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415036" y="2565400"/>
            <a:ext cx="67579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5B6F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Runtime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88075" y="1542416"/>
            <a:ext cx="2501900" cy="1416050"/>
          </a:xfrm>
          <a:prstGeom prst="roundRect">
            <a:avLst>
              <a:gd name="adj" fmla="val 6951"/>
            </a:avLst>
          </a:prstGeom>
          <a:solidFill>
            <a:srgbClr val="FFFFFF"/>
          </a:solidFill>
          <a:ln w="6350">
            <a:solidFill>
              <a:srgbClr val="CFE0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46036" y="1722120"/>
            <a:ext cx="585978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920"/>
              </a:lnSpc>
              <a:buNone/>
            </a:pPr>
            <a:r>
              <a:rPr lang="en-US" sz="2800" dirty="0">
                <a:solidFill>
                  <a:srgbClr val="0B2A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🚂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913539" y="2270761"/>
            <a:ext cx="1050893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B2A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Express.js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731897" y="2565400"/>
            <a:ext cx="141417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5B6F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Server framework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874125" y="1542416"/>
            <a:ext cx="2501900" cy="1416050"/>
          </a:xfrm>
          <a:prstGeom prst="roundRect">
            <a:avLst>
              <a:gd name="adj" fmla="val 6951"/>
            </a:avLst>
          </a:prstGeom>
          <a:solidFill>
            <a:srgbClr val="FFFFFF"/>
          </a:solidFill>
          <a:ln w="6350">
            <a:solidFill>
              <a:srgbClr val="CFE0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32086" y="1722120"/>
            <a:ext cx="585978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920"/>
              </a:lnSpc>
              <a:buNone/>
            </a:pPr>
            <a:r>
              <a:rPr lang="en-US" sz="2800" dirty="0">
                <a:solidFill>
                  <a:srgbClr val="0B2A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🍃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9561012" y="2270761"/>
            <a:ext cx="1128046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B2A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MongoDB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749989" y="2565400"/>
            <a:ext cx="75009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5B6F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5975" y="3142616"/>
            <a:ext cx="2501900" cy="1416050"/>
          </a:xfrm>
          <a:prstGeom prst="roundRect">
            <a:avLst>
              <a:gd name="adj" fmla="val 6951"/>
            </a:avLst>
          </a:prstGeom>
          <a:solidFill>
            <a:srgbClr val="FFFFFF"/>
          </a:solidFill>
          <a:ln w="6350">
            <a:solidFill>
              <a:srgbClr val="CFE0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773936" y="3322320"/>
            <a:ext cx="585978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920"/>
              </a:lnSpc>
              <a:buNone/>
            </a:pPr>
            <a:r>
              <a:rPr lang="en-US" sz="2800" dirty="0">
                <a:solidFill>
                  <a:srgbClr val="0B2A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🔐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1530001" y="3870961"/>
            <a:ext cx="1073849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B2A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JWT Auth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568387" y="4165600"/>
            <a:ext cx="99707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5B6F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Secure login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502025" y="3142616"/>
            <a:ext cx="2501900" cy="1416050"/>
          </a:xfrm>
          <a:prstGeom prst="roundRect">
            <a:avLst>
              <a:gd name="adj" fmla="val 6951"/>
            </a:avLst>
          </a:prstGeom>
          <a:solidFill>
            <a:srgbClr val="FFFFFF"/>
          </a:solidFill>
          <a:ln w="6350">
            <a:solidFill>
              <a:srgbClr val="CFE0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59986" y="3322320"/>
            <a:ext cx="585978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920"/>
              </a:lnSpc>
              <a:buNone/>
            </a:pPr>
            <a:r>
              <a:rPr lang="en-US" sz="2800" dirty="0">
                <a:solidFill>
                  <a:srgbClr val="0B2A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🎨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4059460" y="3870961"/>
            <a:ext cx="1387031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B2A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Tailwind CSS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013653" y="4165600"/>
            <a:ext cx="147856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5B6F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Responsive styling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188075" y="3142616"/>
            <a:ext cx="2501900" cy="1416050"/>
          </a:xfrm>
          <a:prstGeom prst="roundRect">
            <a:avLst>
              <a:gd name="adj" fmla="val 6951"/>
            </a:avLst>
          </a:prstGeom>
          <a:solidFill>
            <a:srgbClr val="FFFFFF"/>
          </a:solidFill>
          <a:ln w="6350">
            <a:solidFill>
              <a:srgbClr val="CFE0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46036" y="3322320"/>
            <a:ext cx="585978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920"/>
              </a:lnSpc>
              <a:buNone/>
            </a:pPr>
            <a:r>
              <a:rPr lang="en-US" sz="2800" dirty="0">
                <a:solidFill>
                  <a:srgbClr val="0B2A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🔌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6891623" y="3870961"/>
            <a:ext cx="1094804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B2A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 APIs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753424" y="4165600"/>
            <a:ext cx="137112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5B6F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Client–server link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12800" y="6238241"/>
            <a:ext cx="352472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F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Faculty Appointment Booking System · 3 / 7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B2A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 Features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517016"/>
            <a:ext cx="2787650" cy="1004570"/>
          </a:xfrm>
          <a:prstGeom prst="roundRect">
            <a:avLst>
              <a:gd name="adj" fmla="val 9798"/>
            </a:avLst>
          </a:prstGeom>
          <a:solidFill>
            <a:srgbClr val="FFFFFF"/>
          </a:solidFill>
          <a:ln w="6350">
            <a:solidFill>
              <a:srgbClr val="CFE0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44880" y="1841500"/>
            <a:ext cx="41852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0B2A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🔑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82554" y="1903730"/>
            <a:ext cx="142170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B2A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Register / Login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736975" y="1517016"/>
            <a:ext cx="2787650" cy="1004570"/>
          </a:xfrm>
          <a:prstGeom prst="roundRect">
            <a:avLst>
              <a:gd name="adj" fmla="val 9798"/>
            </a:avLst>
          </a:prstGeom>
          <a:solidFill>
            <a:srgbClr val="FFFFFF"/>
          </a:solidFill>
          <a:ln w="6350">
            <a:solidFill>
              <a:srgbClr val="CFE0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65880" y="1841500"/>
            <a:ext cx="41852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0B2A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303554" y="1903730"/>
            <a:ext cx="1731645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B2A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 Dashboard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15975" y="2654936"/>
            <a:ext cx="2787650" cy="1004570"/>
          </a:xfrm>
          <a:prstGeom prst="roundRect">
            <a:avLst>
              <a:gd name="adj" fmla="val 9798"/>
            </a:avLst>
          </a:prstGeom>
          <a:solidFill>
            <a:srgbClr val="FFFFFF"/>
          </a:solidFill>
          <a:ln w="6350">
            <a:solidFill>
              <a:srgbClr val="CFE0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4880" y="2979420"/>
            <a:ext cx="41852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0B2A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👩‍🏫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382554" y="3041650"/>
            <a:ext cx="133369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B2A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Browse Faculty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736975" y="2654936"/>
            <a:ext cx="2787650" cy="1004570"/>
          </a:xfrm>
          <a:prstGeom prst="roundRect">
            <a:avLst>
              <a:gd name="adj" fmla="val 9798"/>
            </a:avLst>
          </a:prstGeom>
          <a:solidFill>
            <a:srgbClr val="FFFFFF"/>
          </a:solidFill>
          <a:ln w="6350">
            <a:solidFill>
              <a:srgbClr val="CFE0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65880" y="2979420"/>
            <a:ext cx="41852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0B2A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📅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303554" y="3041650"/>
            <a:ext cx="1711738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B2A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Book Appointment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5975" y="3792855"/>
            <a:ext cx="2787650" cy="1004570"/>
          </a:xfrm>
          <a:prstGeom prst="roundRect">
            <a:avLst>
              <a:gd name="adj" fmla="val 9798"/>
            </a:avLst>
          </a:prstGeom>
          <a:solidFill>
            <a:srgbClr val="FFFFFF"/>
          </a:solidFill>
          <a:ln w="6350">
            <a:solidFill>
              <a:srgbClr val="CFE0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4880" y="4117341"/>
            <a:ext cx="41852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0B2A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🔔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382554" y="4179570"/>
            <a:ext cx="1038225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B2A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View Status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736975" y="3792855"/>
            <a:ext cx="2787650" cy="1004570"/>
          </a:xfrm>
          <a:prstGeom prst="roundRect">
            <a:avLst>
              <a:gd name="adj" fmla="val 9798"/>
            </a:avLst>
          </a:prstGeom>
          <a:solidFill>
            <a:srgbClr val="FFFFFF"/>
          </a:solidFill>
          <a:ln w="6350">
            <a:solidFill>
              <a:srgbClr val="CFE0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65880" y="4117341"/>
            <a:ext cx="41852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0B2A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✏️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303554" y="4179570"/>
            <a:ext cx="1128427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B2A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Edit / Cancel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788150" y="1520191"/>
            <a:ext cx="4584700" cy="3274060"/>
          </a:xfrm>
          <a:prstGeom prst="roundRect">
            <a:avLst>
              <a:gd name="adj" fmla="val 3685"/>
            </a:avLst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69760" y="1701800"/>
            <a:ext cx="434812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Book Appointment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969760" y="2044700"/>
            <a:ext cx="4221480" cy="365760"/>
          </a:xfrm>
          <a:prstGeom prst="roundRect">
            <a:avLst>
              <a:gd name="adj" fmla="val 17361"/>
            </a:avLst>
          </a:prstGeom>
          <a:solidFill>
            <a:srgbClr val="EAF2FF"/>
          </a:solidFill>
          <a:ln/>
        </p:spPr>
        <p:txBody>
          <a:bodyPr wrap="square" lIns="83001" tIns="57601" rIns="0" bIns="32201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0B2A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Faculty: Dr. Rao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969760" y="2486661"/>
            <a:ext cx="4221480" cy="365760"/>
          </a:xfrm>
          <a:prstGeom prst="roundRect">
            <a:avLst>
              <a:gd name="adj" fmla="val 17361"/>
            </a:avLst>
          </a:prstGeom>
          <a:solidFill>
            <a:srgbClr val="EAF2FF"/>
          </a:solidFill>
          <a:ln/>
        </p:spPr>
        <p:txBody>
          <a:bodyPr wrap="square" lIns="83001" tIns="57601" rIns="0" bIns="32201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0B2A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Date: 14 Oct 2026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969760" y="2928620"/>
            <a:ext cx="4221480" cy="365760"/>
          </a:xfrm>
          <a:prstGeom prst="roundRect">
            <a:avLst>
              <a:gd name="adj" fmla="val 17361"/>
            </a:avLst>
          </a:prstGeom>
          <a:solidFill>
            <a:srgbClr val="EAF2FF"/>
          </a:solidFill>
          <a:ln/>
        </p:spPr>
        <p:txBody>
          <a:bodyPr wrap="square" lIns="83001" tIns="57601" rIns="0" bIns="32201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0B2A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Time: 10:30 AM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969760" y="3370580"/>
            <a:ext cx="4221480" cy="365760"/>
          </a:xfrm>
          <a:prstGeom prst="roundRect">
            <a:avLst>
              <a:gd name="adj" fmla="val 17361"/>
            </a:avLst>
          </a:prstGeom>
          <a:solidFill>
            <a:srgbClr val="EAF2FF"/>
          </a:solidFill>
          <a:ln/>
        </p:spPr>
        <p:txBody>
          <a:bodyPr wrap="square" lIns="83001" tIns="57601" rIns="0" bIns="32201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0B2A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Purpose: Project guidance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969760" y="3812541"/>
            <a:ext cx="4221480" cy="408940"/>
          </a:xfrm>
          <a:prstGeom prst="roundRect">
            <a:avLst>
              <a:gd name="adj" fmla="val 15528"/>
            </a:avLst>
          </a:prstGeom>
          <a:solidFill>
            <a:srgbClr val="1D4ED8"/>
          </a:solidFill>
          <a:ln/>
        </p:spPr>
        <p:txBody>
          <a:bodyPr wrap="square" lIns="9646" tIns="70301" rIns="9646" bIns="44901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8FB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Book Now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969760" y="4297680"/>
            <a:ext cx="726122" cy="314960"/>
          </a:xfrm>
          <a:prstGeom prst="roundRect">
            <a:avLst>
              <a:gd name="adj" fmla="val 40323"/>
            </a:avLst>
          </a:prstGeom>
          <a:solidFill>
            <a:srgbClr val="FEF3C7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9240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Pending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759383" y="4297680"/>
            <a:ext cx="840026" cy="314960"/>
          </a:xfrm>
          <a:prstGeom prst="roundRect">
            <a:avLst>
              <a:gd name="adj" fmla="val 40323"/>
            </a:avLst>
          </a:prstGeom>
          <a:solidFill>
            <a:srgbClr val="D1FAE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065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Approved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662908" y="4297680"/>
            <a:ext cx="752316" cy="314960"/>
          </a:xfrm>
          <a:prstGeom prst="roundRect">
            <a:avLst>
              <a:gd name="adj" fmla="val 40323"/>
            </a:avLst>
          </a:prstGeom>
          <a:solidFill>
            <a:srgbClr val="FEE2E2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99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Rejected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12800" y="6238239"/>
            <a:ext cx="352472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F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Faculty Appointment Booking System · 4 / 7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A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B2A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Faculty &amp; Admin Features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517014"/>
            <a:ext cx="4819650" cy="1907540"/>
          </a:xfrm>
          <a:prstGeom prst="roundRect">
            <a:avLst>
              <a:gd name="adj" fmla="val 5160"/>
            </a:avLst>
          </a:prstGeom>
          <a:solidFill>
            <a:srgbClr val="FFFFFF"/>
          </a:solidFill>
          <a:ln w="6350">
            <a:solidFill>
              <a:srgbClr val="CFE0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95680" y="1696721"/>
            <a:ext cx="4594047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👩‍🏫 Faculty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067562" y="1955800"/>
            <a:ext cx="4514545" cy="1314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2118" indent="-182118" algn="l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0B2A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Faculty login</a:t>
            </a:r>
            <a:endParaRPr lang="en-US" sz="1400" dirty="0"/>
          </a:p>
          <a:p>
            <a:pPr marL="182118" indent="-182118" algn="l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0B2A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availability slots</a:t>
            </a:r>
            <a:endParaRPr lang="en-US" sz="1400" dirty="0"/>
          </a:p>
          <a:p>
            <a:pPr marL="182118" indent="-182118" algn="l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0B2A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View booking requests</a:t>
            </a:r>
            <a:endParaRPr lang="en-US" sz="1400" dirty="0"/>
          </a:p>
          <a:p>
            <a:pPr marL="182118" indent="-182118" algn="l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0B2A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Approve / reject appointments</a:t>
            </a:r>
            <a:endParaRPr lang="en-US" sz="1400" dirty="0"/>
          </a:p>
          <a:p>
            <a:pPr marL="182118" indent="-182118" algn="l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0B2A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Personal dashboard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12800" y="3580132"/>
            <a:ext cx="4826000" cy="1388110"/>
          </a:xfrm>
          <a:prstGeom prst="roundRect">
            <a:avLst>
              <a:gd name="adj" fmla="val 7319"/>
            </a:avLst>
          </a:prstGeom>
          <a:solidFill>
            <a:srgbClr val="0B2A5B"/>
          </a:solidFill>
          <a:ln/>
        </p:spPr>
      </p:sp>
      <p:sp>
        <p:nvSpPr>
          <p:cNvPr id="7" name="Text 5"/>
          <p:cNvSpPr/>
          <p:nvPr/>
        </p:nvSpPr>
        <p:spPr>
          <a:xfrm>
            <a:off x="990600" y="3757932"/>
            <a:ext cx="460451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7CC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🛡️ Admin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62482" y="4017011"/>
            <a:ext cx="4525010" cy="798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2118" indent="-182118" algn="l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F8FB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 students</a:t>
            </a:r>
            <a:endParaRPr lang="en-US" sz="1400" dirty="0"/>
          </a:p>
          <a:p>
            <a:pPr marL="182118" indent="-182118" algn="l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F8FB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 faculty</a:t>
            </a:r>
            <a:endParaRPr lang="en-US" sz="1400" dirty="0"/>
          </a:p>
          <a:p>
            <a:pPr marL="182118" indent="-182118" algn="l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F8FB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 all appointments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899150" y="1520189"/>
            <a:ext cx="5473700" cy="3441700"/>
          </a:xfrm>
          <a:prstGeom prst="roundRect">
            <a:avLst>
              <a:gd name="adj" fmla="val 3506"/>
            </a:avLst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80760" y="1701800"/>
            <a:ext cx="526379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Faculty Dashboard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080760" y="2095500"/>
            <a:ext cx="2504440" cy="843280"/>
          </a:xfrm>
          <a:prstGeom prst="roundRect">
            <a:avLst>
              <a:gd name="adj" fmla="val 9036"/>
            </a:avLst>
          </a:prstGeom>
          <a:solidFill>
            <a:srgbClr val="EAF2FF"/>
          </a:solidFill>
          <a:ln/>
        </p:spPr>
      </p:sp>
      <p:sp>
        <p:nvSpPr>
          <p:cNvPr id="12" name="Text 10"/>
          <p:cNvSpPr/>
          <p:nvPr/>
        </p:nvSpPr>
        <p:spPr>
          <a:xfrm>
            <a:off x="6147842" y="2197100"/>
            <a:ext cx="2370277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0B2A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147842" y="2623821"/>
            <a:ext cx="237027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0B2A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Pending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686800" y="2095500"/>
            <a:ext cx="2504440" cy="843280"/>
          </a:xfrm>
          <a:prstGeom prst="roundRect">
            <a:avLst>
              <a:gd name="adj" fmla="val 9036"/>
            </a:avLst>
          </a:prstGeom>
          <a:solidFill>
            <a:srgbClr val="EAF2FF"/>
          </a:solidFill>
          <a:ln/>
        </p:spPr>
      </p:sp>
      <p:sp>
        <p:nvSpPr>
          <p:cNvPr id="15" name="Text 13"/>
          <p:cNvSpPr/>
          <p:nvPr/>
        </p:nvSpPr>
        <p:spPr>
          <a:xfrm>
            <a:off x="8753881" y="2197100"/>
            <a:ext cx="2370277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0B2A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8753881" y="2623821"/>
            <a:ext cx="237027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0B2A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Approved</a:t>
            </a:r>
            <a:endParaRPr lang="en-US" sz="1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0920" y="3075942"/>
          <a:ext cx="5100320" cy="1070610"/>
        </p:xfrm>
        <a:graphic>
          <a:graphicData uri="http://schemas.openxmlformats.org/drawingml/2006/table">
            <a:tbl>
              <a:tblPr/>
              <a:tblGrid>
                <a:gridCol w="17001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01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0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0B2A5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Student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0B2A5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Slot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0B2A5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Action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B2A5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Asha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B2A5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 10:30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B2A5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✅ ❌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B2A5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Ravi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B2A5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Tue 2:00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B2A5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✅ ❌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812800" y="6238239"/>
            <a:ext cx="352472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F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Faculty Appointment Booking System · 5 / 7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B2A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Workflow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9150" y="1610361"/>
            <a:ext cx="1701800" cy="1173480"/>
          </a:xfrm>
          <a:prstGeom prst="roundRect">
            <a:avLst>
              <a:gd name="adj" fmla="val 8117"/>
            </a:avLst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00756" y="1741171"/>
            <a:ext cx="13850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439831" y="1992632"/>
            <a:ext cx="460438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080"/>
              </a:lnSpc>
              <a:buNone/>
            </a:pPr>
            <a:r>
              <a:rPr lang="en-US" sz="2200" dirty="0">
                <a:solidFill>
                  <a:srgbClr val="0B2A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🔑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59199" y="2421889"/>
            <a:ext cx="142170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B2A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Register / Login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628900" y="2019300"/>
            <a:ext cx="26995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956004" y="1610361"/>
            <a:ext cx="1701800" cy="1173480"/>
          </a:xfrm>
          <a:prstGeom prst="roundRect">
            <a:avLst>
              <a:gd name="adj" fmla="val 8117"/>
            </a:avLst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37610" y="1741171"/>
            <a:ext cx="13850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576685" y="1992632"/>
            <a:ext cx="460438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080"/>
              </a:lnSpc>
              <a:buNone/>
            </a:pPr>
            <a:r>
              <a:rPr lang="en-US" sz="2200" dirty="0">
                <a:solidFill>
                  <a:srgbClr val="0B2A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👩‍🏫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140059" y="2421889"/>
            <a:ext cx="133369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B2A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Browse Faculty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65754" y="2019300"/>
            <a:ext cx="26995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092859" y="1610361"/>
            <a:ext cx="1701800" cy="1173480"/>
          </a:xfrm>
          <a:prstGeom prst="roundRect">
            <a:avLst>
              <a:gd name="adj" fmla="val 8117"/>
            </a:avLst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74464" y="1741171"/>
            <a:ext cx="13850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713540" y="1992632"/>
            <a:ext cx="460438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080"/>
              </a:lnSpc>
              <a:buNone/>
            </a:pPr>
            <a:r>
              <a:rPr lang="en-US" sz="2200" dirty="0">
                <a:solidFill>
                  <a:srgbClr val="0B2A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👆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334540" y="2421889"/>
            <a:ext cx="1218438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B2A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Select Faculty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902609" y="2019300"/>
            <a:ext cx="26995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7229713" y="1494789"/>
            <a:ext cx="1701800" cy="1404620"/>
          </a:xfrm>
          <a:prstGeom prst="roundRect">
            <a:avLst>
              <a:gd name="adj" fmla="val 6781"/>
            </a:avLst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11319" y="1625600"/>
            <a:ext cx="13850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850394" y="1877061"/>
            <a:ext cx="460438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080"/>
              </a:lnSpc>
              <a:buNone/>
            </a:pPr>
            <a:r>
              <a:rPr lang="en-US" sz="2200" dirty="0">
                <a:solidFill>
                  <a:srgbClr val="0B2A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🗓️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335124" y="2306321"/>
            <a:ext cx="14909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B2A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Choose Date &amp; Time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039463" y="2019300"/>
            <a:ext cx="26995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9366568" y="1610361"/>
            <a:ext cx="1701800" cy="1173480"/>
          </a:xfrm>
          <a:prstGeom prst="roundRect">
            <a:avLst>
              <a:gd name="adj" fmla="val 8117"/>
            </a:avLst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148174" y="1741171"/>
            <a:ext cx="13850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987248" y="1992632"/>
            <a:ext cx="460438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080"/>
              </a:lnSpc>
              <a:buNone/>
            </a:pPr>
            <a:r>
              <a:rPr lang="en-US" sz="2200" dirty="0">
                <a:solidFill>
                  <a:srgbClr val="0B2A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📝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590064" y="2421889"/>
            <a:ext cx="1254728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B2A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 Purpose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19150" y="3256282"/>
            <a:ext cx="1701800" cy="1173480"/>
          </a:xfrm>
          <a:prstGeom prst="roundRect">
            <a:avLst>
              <a:gd name="adj" fmla="val 8117"/>
            </a:avLst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600756" y="3387089"/>
            <a:ext cx="13850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439831" y="3638550"/>
            <a:ext cx="460438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080"/>
              </a:lnSpc>
              <a:buNone/>
            </a:pPr>
            <a:r>
              <a:rPr lang="en-US" sz="2200" dirty="0">
                <a:solidFill>
                  <a:srgbClr val="0B2A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825500" y="4067811"/>
            <a:ext cx="168902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B2A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Book Appointment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628900" y="3665221"/>
            <a:ext cx="26995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2956004" y="3256282"/>
            <a:ext cx="1701800" cy="1173480"/>
          </a:xfrm>
          <a:prstGeom prst="roundRect">
            <a:avLst>
              <a:gd name="adj" fmla="val 8117"/>
            </a:avLst>
          </a:prstGeom>
          <a:solidFill>
            <a:srgbClr val="FFFFFF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37610" y="3387089"/>
            <a:ext cx="13850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B2A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576685" y="3638550"/>
            <a:ext cx="460438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080"/>
              </a:lnSpc>
              <a:buNone/>
            </a:pPr>
            <a:r>
              <a:rPr lang="en-US" sz="2200" dirty="0">
                <a:solidFill>
                  <a:srgbClr val="0B2A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🔍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3107007" y="4067811"/>
            <a:ext cx="1399794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B2A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Faculty Reviews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765754" y="3665221"/>
            <a:ext cx="26995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000" dirty="0"/>
          </a:p>
        </p:txBody>
      </p:sp>
      <p:sp>
        <p:nvSpPr>
          <p:cNvPr id="37" name="Shape 35"/>
          <p:cNvSpPr/>
          <p:nvPr/>
        </p:nvSpPr>
        <p:spPr>
          <a:xfrm>
            <a:off x="5092859" y="3256282"/>
            <a:ext cx="1701800" cy="1173480"/>
          </a:xfrm>
          <a:prstGeom prst="roundRect">
            <a:avLst>
              <a:gd name="adj" fmla="val 8117"/>
            </a:avLst>
          </a:prstGeom>
          <a:solidFill>
            <a:srgbClr val="FFFFFF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74464" y="3387089"/>
            <a:ext cx="13850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B2A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713540" y="3638550"/>
            <a:ext cx="460438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080"/>
              </a:lnSpc>
              <a:buNone/>
            </a:pPr>
            <a:r>
              <a:rPr lang="en-US" sz="2200" dirty="0">
                <a:solidFill>
                  <a:srgbClr val="0B2A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👍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5107369" y="4067811"/>
            <a:ext cx="167278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B2A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Approves / Rejects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902609" y="3665221"/>
            <a:ext cx="26995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000" dirty="0"/>
          </a:p>
        </p:txBody>
      </p:sp>
      <p:sp>
        <p:nvSpPr>
          <p:cNvPr id="42" name="Shape 40"/>
          <p:cNvSpPr/>
          <p:nvPr/>
        </p:nvSpPr>
        <p:spPr>
          <a:xfrm>
            <a:off x="7229713" y="3140711"/>
            <a:ext cx="1701800" cy="1404620"/>
          </a:xfrm>
          <a:prstGeom prst="roundRect">
            <a:avLst>
              <a:gd name="adj" fmla="val 6781"/>
            </a:avLst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011319" y="3271521"/>
            <a:ext cx="13850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7850394" y="3522982"/>
            <a:ext cx="460438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080"/>
              </a:lnSpc>
              <a:buNone/>
            </a:pPr>
            <a:r>
              <a:rPr lang="en-US" sz="2200" dirty="0">
                <a:solidFill>
                  <a:srgbClr val="0B2A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🔔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7335124" y="3952239"/>
            <a:ext cx="14909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B2A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 Views Status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812800" y="478028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F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Blue = student action · Navy = faculty action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812800" y="6238239"/>
            <a:ext cx="352472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F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Faculty Appointment Booking System · 6 / 7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2A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8FB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Conclusion &amp; Future Scope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539239"/>
            <a:ext cx="5310886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7CC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Highlights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77570" y="1927861"/>
            <a:ext cx="5238496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9230" indent="-189230" algn="l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F8FB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Secure role-based authentication</a:t>
            </a:r>
            <a:endParaRPr lang="en-US" sz="1500" dirty="0"/>
          </a:p>
          <a:p>
            <a:pPr marL="189230" indent="-189230" algn="l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F8FB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CRUD operations</a:t>
            </a:r>
            <a:endParaRPr lang="en-US" sz="1500" dirty="0"/>
          </a:p>
          <a:p>
            <a:pPr marL="189230" indent="-189230" algn="l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F8FB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Responsive UI</a:t>
            </a:r>
            <a:endParaRPr lang="en-US" sz="1500" dirty="0"/>
          </a:p>
          <a:p>
            <a:pPr marL="189230" indent="-189230" algn="l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F8FB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Improved communication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223000" y="1539239"/>
            <a:ext cx="5310886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7CC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🚀 Future Scope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223000" y="1927861"/>
            <a:ext cx="5156200" cy="571500"/>
          </a:xfrm>
          <a:prstGeom prst="roundRect">
            <a:avLst>
              <a:gd name="adj" fmla="val 17778"/>
            </a:avLst>
          </a:prstGeom>
          <a:solidFill>
            <a:srgbClr val="1D4ED8"/>
          </a:solidFill>
          <a:ln/>
        </p:spPr>
        <p:txBody>
          <a:bodyPr wrap="square" lIns="122642" tIns="122642" rIns="0" bIns="97242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8FB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📧 Email notifications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223000" y="2613661"/>
            <a:ext cx="5156200" cy="571500"/>
          </a:xfrm>
          <a:prstGeom prst="roundRect">
            <a:avLst>
              <a:gd name="adj" fmla="val 17778"/>
            </a:avLst>
          </a:prstGeom>
          <a:solidFill>
            <a:srgbClr val="1D4ED8"/>
          </a:solidFill>
          <a:ln/>
        </p:spPr>
        <p:txBody>
          <a:bodyPr wrap="square" lIns="122642" tIns="122642" rIns="0" bIns="97242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8FB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🗓️ Calendar integration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223000" y="3299461"/>
            <a:ext cx="5156200" cy="571500"/>
          </a:xfrm>
          <a:prstGeom prst="roundRect">
            <a:avLst>
              <a:gd name="adj" fmla="val 17778"/>
            </a:avLst>
          </a:prstGeom>
          <a:solidFill>
            <a:srgbClr val="1D4ED8"/>
          </a:solidFill>
          <a:ln/>
        </p:spPr>
        <p:txBody>
          <a:bodyPr wrap="square" lIns="122642" tIns="122642" rIns="0" bIns="97242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8FB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📱 Mobile app support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12800" y="6238239"/>
            <a:ext cx="450056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CFE0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Faculty Appointment Booking System · 7 / 7 · Thank you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ulty Appointment Booking System">
  <a:themeElements>
    <a:clrScheme name="Faculty Appointment Booking System">
      <a:dk1>
        <a:srgbClr val="0B2A5B"/>
      </a:dk1>
      <a:lt1>
        <a:srgbClr val="F8FBFF"/>
      </a:lt1>
      <a:dk2>
        <a:srgbClr val="465E84"/>
      </a:dk2>
      <a:lt2>
        <a:srgbClr val="E0E6EF"/>
      </a:lt2>
      <a:accent1>
        <a:srgbClr val="1D4ED8"/>
      </a:accent1>
      <a:accent2>
        <a:srgbClr val="5B6F94"/>
      </a:accent2>
      <a:accent3>
        <a:srgbClr val="7CC4FF"/>
      </a:accent3>
      <a:accent4>
        <a:srgbClr val="CFE0FF"/>
      </a:accent4>
      <a:accent5>
        <a:srgbClr val="B45309"/>
      </a:accent5>
      <a:accent6>
        <a:srgbClr val="FEF3C7"/>
      </a:accent6>
      <a:hlink>
        <a:srgbClr val="0563C1"/>
      </a:hlink>
      <a:folHlink>
        <a:srgbClr val="954F72"/>
      </a:folHlink>
    </a:clrScheme>
    <a:fontScheme name="Faculty Appointment Booking System">
      <a:majorFont>
        <a:latin typeface="Segoe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390</Words>
  <Application>Microsoft Office PowerPoint</Application>
  <PresentationFormat>Widescreen</PresentationFormat>
  <Paragraphs>153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PMingLiU-ExtB</vt:lpstr>
      <vt:lpstr>Arial</vt:lpstr>
      <vt:lpstr>Segoe UI</vt:lpstr>
      <vt:lpstr>Faculty Appointment Booking System</vt:lpstr>
      <vt:lpstr>Faculty Appointment Booking System</vt:lpstr>
      <vt:lpstr>Problem Statement &amp; Objectives</vt:lpstr>
      <vt:lpstr>Technology Stack</vt:lpstr>
      <vt:lpstr>Student Features</vt:lpstr>
      <vt:lpstr>Faculty &amp; Admin Features</vt:lpstr>
      <vt:lpstr>System Workflow</vt:lpstr>
      <vt:lpstr>Conclusion &amp; Future Scope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Faculty Appointment Booking System</dc:title>
  <dc:subject/>
  <dc:creator/>
  <cp:lastModifiedBy>gangothri podila</cp:lastModifiedBy>
  <cp:revision>2</cp:revision>
  <dcterms:created xsi:type="dcterms:W3CDTF">2026-10-10T06:08:37Z</dcterms:created>
  <dcterms:modified xsi:type="dcterms:W3CDTF">2026-10-10T06:12:41Z</dcterms:modified>
</cp:coreProperties>
</file>